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63" r:id="rId1"/>
  </p:sldMasterIdLst>
  <p:notesMasterIdLst>
    <p:notesMasterId r:id="rId20"/>
  </p:notesMasterIdLst>
  <p:handoutMasterIdLst>
    <p:handoutMasterId r:id="rId21"/>
  </p:handoutMasterIdLst>
  <p:sldIdLst>
    <p:sldId id="256" r:id="rId2"/>
    <p:sldId id="511" r:id="rId3"/>
    <p:sldId id="513" r:id="rId4"/>
    <p:sldId id="514" r:id="rId5"/>
    <p:sldId id="516" r:id="rId6"/>
    <p:sldId id="517" r:id="rId7"/>
    <p:sldId id="525" r:id="rId8"/>
    <p:sldId id="526" r:id="rId9"/>
    <p:sldId id="518" r:id="rId10"/>
    <p:sldId id="521" r:id="rId11"/>
    <p:sldId id="519" r:id="rId12"/>
    <p:sldId id="520" r:id="rId13"/>
    <p:sldId id="527" r:id="rId14"/>
    <p:sldId id="522" r:id="rId15"/>
    <p:sldId id="512" r:id="rId16"/>
    <p:sldId id="523" r:id="rId17"/>
    <p:sldId id="524" r:id="rId18"/>
    <p:sldId id="509" r:id="rId1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3D7C"/>
    <a:srgbClr val="003B70"/>
    <a:srgbClr val="173063"/>
    <a:srgbClr val="1415A3"/>
    <a:srgbClr val="0C0A3F"/>
    <a:srgbClr val="100E51"/>
    <a:srgbClr val="0A0E71"/>
    <a:srgbClr val="71B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4731" autoAdjust="0"/>
  </p:normalViewPr>
  <p:slideViewPr>
    <p:cSldViewPr>
      <p:cViewPr varScale="1">
        <p:scale>
          <a:sx n="74" d="100"/>
          <a:sy n="74" d="100"/>
        </p:scale>
        <p:origin x="732" y="64"/>
      </p:cViewPr>
      <p:guideLst>
        <p:guide orient="horz" pos="2256"/>
        <p:guide pos="6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CB42547-1216-8745-B61E-1644CC83EEDE}" type="datetimeFigureOut">
              <a:rPr lang="en-US" altLang="en-US"/>
              <a:pPr/>
              <a:t>12/8/2025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2AC235E-F41A-DE4A-9D7D-9E19E772B4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A4D7F38-9E4B-194A-AA5A-81BF138D29E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D7F38-9E4B-194A-AA5A-81BF138D29E9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7486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DB62B-6D3E-4889-2036-D591A1F48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BD8C1-F949-D1D1-4A0F-DCDFB7240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5A150-314F-3EA7-5B0F-8AFAEF677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6A48A-BD99-29D8-B330-F8909DF9E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D7F38-9E4B-194A-AA5A-81BF138D29E9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603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AD553-B5A4-8C96-89D2-AB35E2D47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5D325-C869-06C4-05C9-470E5E067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41BBAD-6054-8EBD-D571-48E4457D2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27043-FA5F-D1B4-64C9-A0048578E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D7F38-9E4B-194A-AA5A-81BF138D29E9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1810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C249F-BA17-52EF-881C-4AB7C72C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9E5FD-93D5-CE4B-CD32-2A891D21B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5A885-431A-A3D8-4AF6-001AA857C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5F3AE-8389-F4AC-C1EF-5E382FAC1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D7F38-9E4B-194A-AA5A-81BF138D29E9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4650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56E87-2950-AD18-2FE8-B48608D7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3C637C-9B67-4C01-3F81-1BF0C34D9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8B816-8D92-3AD5-982B-8CDEFEEF5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7F23E-3B4A-F40F-0291-D2177F688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D7F38-9E4B-194A-AA5A-81BF138D29E9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9592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7F9E2-1920-B6B6-C3B6-BE895B89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332AA-3B9A-414D-4160-BF78AE89D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8A0F2-A549-FE07-0690-5F8B77920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FBE14-1162-DF37-5EDF-C9E9132264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D7F38-9E4B-194A-AA5A-81BF138D29E9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2059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0361D-809A-8E6D-D295-4E4881E38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A25D7-2FCB-DD63-1FAD-17F01570A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7A157B-2A52-7826-87C5-7AF8713A2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D4A2A-D158-ADF7-E3AD-D09B10C90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D7F38-9E4B-194A-AA5A-81BF138D29E9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8113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3F1A8-6884-B30D-879A-48AAB9B13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9ABFB-B934-BCC5-6692-24F455511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C8AC5-37C5-D3B8-D8D2-412149FCF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B28CC-3AC0-D126-0FC2-815B46155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D7F38-9E4B-194A-AA5A-81BF138D29E9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8062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5B877-DAF5-6E3F-968F-4D3363E82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0FE3A-C304-7B00-AD66-21F2FAB60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99A65-842C-5ADB-B21F-A2F8B620D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69237-6B0A-18CE-27E2-1C0417560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D7F38-9E4B-194A-AA5A-81BF138D29E9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0316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D371E-6BF6-2524-1B65-9D8F400F6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A8231-5E6C-862F-2B57-551D0A2BE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7BAC7C-433E-13CD-4EB8-6D5E2A42D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DF796-F715-235E-A67E-F260567FE4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D7F38-9E4B-194A-AA5A-81BF138D29E9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826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75DCE-7A0C-6DBF-7FA4-B8065F290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F32E3-2A4E-4679-DC0D-EEB031ED9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DF8A6-928A-CDC8-D498-2D269BD5C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112FE-267A-E3BC-4508-4E1563050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D7F38-9E4B-194A-AA5A-81BF138D29E9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0310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DD295-0627-E391-D96F-10E35266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44F0EF-117F-6A5C-B110-B9592AE68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C2CAE0-B3FD-22D9-02FE-6999F100E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215CC-843F-A3AA-04FE-4F6519E8F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D7F38-9E4B-194A-AA5A-81BF138D29E9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1575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-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00200"/>
            <a:ext cx="10363200" cy="2743200"/>
          </a:xfrm>
        </p:spPr>
        <p:txBody>
          <a:bodyPr/>
          <a:lstStyle>
            <a:lvl1pPr algn="ctr">
              <a:defRPr b="1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E4B0F9-A7FB-5046-8EA1-145E13C1BB14}" type="datetimeFigureOut">
              <a:rPr lang="en-US" altLang="en-US"/>
              <a:pPr/>
              <a:t>12/8/2025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36954-0798-F74F-B089-73282A31B4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773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68096" y="1947672"/>
            <a:ext cx="10509504" cy="3776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fld id="{9461B8EA-79DB-F845-97F0-24C5A509848C}" type="datetimeFigureOut">
              <a:rPr lang="en-US" altLang="en-US"/>
              <a:pPr/>
              <a:t>12/8/2025</a:t>
            </a:fld>
            <a:endParaRPr lang="en-US" alt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038BCF56-2392-5945-BBFF-D427D64A37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345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5080000" cy="6397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8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"/>
          </p:nvPr>
        </p:nvSpPr>
        <p:spPr>
          <a:xfrm>
            <a:off x="810684" y="2533650"/>
            <a:ext cx="5183717" cy="3276600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spcAft>
                <a:spcPts val="600"/>
              </a:spcAft>
              <a:defRPr sz="2400">
                <a:latin typeface="+mn-lt"/>
              </a:defRPr>
            </a:lvl1pPr>
            <a:lvl2pPr>
              <a:lnSpc>
                <a:spcPts val="2800"/>
              </a:lnSpc>
              <a:spcAft>
                <a:spcPts val="600"/>
              </a:spcAft>
              <a:defRPr sz="2400">
                <a:latin typeface="+mn-lt"/>
              </a:defRPr>
            </a:lvl2pPr>
            <a:lvl3pPr>
              <a:lnSpc>
                <a:spcPts val="2800"/>
              </a:lnSpc>
              <a:spcAft>
                <a:spcPts val="600"/>
              </a:spcAft>
              <a:defRPr sz="2400">
                <a:latin typeface="+mn-lt"/>
              </a:defRPr>
            </a:lvl3pPr>
            <a:lvl4pPr>
              <a:lnSpc>
                <a:spcPts val="2800"/>
              </a:lnSpc>
              <a:spcAft>
                <a:spcPts val="600"/>
              </a:spcAft>
              <a:defRPr sz="2400">
                <a:latin typeface="+mn-lt"/>
              </a:defRPr>
            </a:lvl4pPr>
            <a:lvl5pPr>
              <a:lnSpc>
                <a:spcPts val="2800"/>
              </a:lnSpc>
              <a:spcAft>
                <a:spcPts val="600"/>
              </a:spcAft>
              <a:defRPr sz="2400"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6197600" y="1828800"/>
            <a:ext cx="5080000" cy="6397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8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14"/>
          </p:nvPr>
        </p:nvSpPr>
        <p:spPr>
          <a:xfrm>
            <a:off x="6093884" y="2533650"/>
            <a:ext cx="5183717" cy="3276600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spcAft>
                <a:spcPts val="600"/>
              </a:spcAft>
              <a:defRPr sz="2400">
                <a:latin typeface="+mn-lt"/>
              </a:defRPr>
            </a:lvl1pPr>
            <a:lvl2pPr>
              <a:lnSpc>
                <a:spcPts val="2800"/>
              </a:lnSpc>
              <a:spcAft>
                <a:spcPts val="600"/>
              </a:spcAft>
              <a:defRPr sz="2400">
                <a:latin typeface="+mn-lt"/>
              </a:defRPr>
            </a:lvl2pPr>
            <a:lvl3pPr>
              <a:lnSpc>
                <a:spcPts val="2800"/>
              </a:lnSpc>
              <a:spcAft>
                <a:spcPts val="600"/>
              </a:spcAft>
              <a:defRPr sz="2400">
                <a:latin typeface="+mn-lt"/>
              </a:defRPr>
            </a:lvl3pPr>
            <a:lvl4pPr>
              <a:lnSpc>
                <a:spcPts val="2800"/>
              </a:lnSpc>
              <a:spcAft>
                <a:spcPts val="600"/>
              </a:spcAft>
              <a:defRPr sz="2400">
                <a:latin typeface="+mn-lt"/>
              </a:defRPr>
            </a:lvl4pPr>
            <a:lvl5pPr>
              <a:lnSpc>
                <a:spcPts val="2800"/>
              </a:lnSpc>
              <a:spcAft>
                <a:spcPts val="600"/>
              </a:spcAft>
              <a:defRPr sz="2400"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fld id="{51040245-401E-DC4F-B046-F0C79A3107CA}" type="datetimeFigureOut">
              <a:rPr lang="en-US" altLang="en-US"/>
              <a:pPr/>
              <a:t>12/8/2025</a:t>
            </a:fld>
            <a:endParaRPr lang="en-US" alt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216C8536-7E23-234B-A8F7-08E8ECDA74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9292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8E3EDF6-D7E0-BF42-B0B6-A092B242026B}" type="datetimeFigureOut">
              <a:rPr lang="en-US" altLang="en-US"/>
              <a:pPr/>
              <a:t>12/8/2025</a:t>
            </a:fld>
            <a:endParaRPr lang="en-US" alt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34907F-A62D-D441-A93A-A617401C2E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064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5999168"/>
            <a:ext cx="12192000" cy="914400"/>
          </a:xfrm>
          <a:prstGeom prst="rect">
            <a:avLst/>
          </a:prstGeom>
          <a:solidFill>
            <a:srgbClr val="003B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167437"/>
            <a:ext cx="2762250" cy="574305"/>
          </a:xfrm>
          <a:prstGeom prst="rect">
            <a:avLst/>
          </a:prstGeom>
        </p:spPr>
      </p:pic>
      <p:sp>
        <p:nvSpPr>
          <p:cNvPr id="1027" name="Text Placeholder 1"/>
          <p:cNvSpPr>
            <a:spLocks noGrp="1"/>
          </p:cNvSpPr>
          <p:nvPr>
            <p:ph type="body" idx="1"/>
          </p:nvPr>
        </p:nvSpPr>
        <p:spPr bwMode="auto">
          <a:xfrm>
            <a:off x="768353" y="1947863"/>
            <a:ext cx="10509249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304800" y="6629403"/>
            <a:ext cx="2844800" cy="1365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</a:defRPr>
            </a:lvl1pPr>
          </a:lstStyle>
          <a:p>
            <a:fld id="{482C3D94-7C5D-0846-984C-DFD8ACC0A135}" type="datetimeFigureOut">
              <a:rPr lang="en-US" altLang="en-US"/>
              <a:pPr/>
              <a:t>12/8/2025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165600" y="6629403"/>
            <a:ext cx="3860800" cy="1365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9144000" y="6629403"/>
            <a:ext cx="2844800" cy="136525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99D00A5A-8E11-5342-9E35-AFD70D06736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</p:sldLayoutIdLst>
  <p:txStyles>
    <p:titleStyle>
      <a:lvl1pPr algn="l" rtl="0" eaLnBrk="1" fontAlgn="base" hangingPunct="1">
        <a:lnSpc>
          <a:spcPts val="4200"/>
        </a:lnSpc>
        <a:spcBef>
          <a:spcPct val="0"/>
        </a:spcBef>
        <a:spcAft>
          <a:spcPct val="0"/>
        </a:spcAft>
        <a:defRPr sz="4000">
          <a:solidFill>
            <a:srgbClr val="003B70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lnSpc>
          <a:spcPts val="4200"/>
        </a:lnSpc>
        <a:spcBef>
          <a:spcPct val="0"/>
        </a:spcBef>
        <a:spcAft>
          <a:spcPct val="0"/>
        </a:spcAft>
        <a:defRPr sz="4000">
          <a:solidFill>
            <a:srgbClr val="003B70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ts val="4200"/>
        </a:lnSpc>
        <a:spcBef>
          <a:spcPct val="0"/>
        </a:spcBef>
        <a:spcAft>
          <a:spcPct val="0"/>
        </a:spcAft>
        <a:defRPr sz="4000">
          <a:solidFill>
            <a:srgbClr val="003B70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ts val="4200"/>
        </a:lnSpc>
        <a:spcBef>
          <a:spcPct val="0"/>
        </a:spcBef>
        <a:spcAft>
          <a:spcPct val="0"/>
        </a:spcAft>
        <a:defRPr sz="4000">
          <a:solidFill>
            <a:srgbClr val="003B70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ts val="4200"/>
        </a:lnSpc>
        <a:spcBef>
          <a:spcPct val="0"/>
        </a:spcBef>
        <a:spcAft>
          <a:spcPct val="0"/>
        </a:spcAft>
        <a:defRPr sz="4000">
          <a:solidFill>
            <a:srgbClr val="003B70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1BEFF"/>
          </a:solidFill>
          <a:latin typeface="Palatino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1BEFF"/>
          </a:solidFill>
          <a:latin typeface="Palatino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1BEFF"/>
          </a:solidFill>
          <a:latin typeface="Palatino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1BEFF"/>
          </a:solidFill>
          <a:latin typeface="Palatino" charset="0"/>
          <a:ea typeface="ＭＳ Ｐゴシック" charset="0"/>
          <a:cs typeface="ＭＳ Ｐゴシック" charset="0"/>
        </a:defRPr>
      </a:lvl9pPr>
    </p:titleStyle>
    <p:bodyStyle>
      <a:lvl1pPr marL="90488" indent="-90488" algn="l" rtl="0" eaLnBrk="1" fontAlgn="base" hangingPunct="1">
        <a:lnSpc>
          <a:spcPts val="3200"/>
        </a:lnSpc>
        <a:spcBef>
          <a:spcPct val="0"/>
        </a:spcBef>
        <a:spcAft>
          <a:spcPts val="600"/>
        </a:spcAft>
        <a:buClr>
          <a:srgbClr val="173063"/>
        </a:buClr>
        <a:buSzPct val="25000"/>
        <a:buFont typeface="Lucida Grande" charset="0"/>
        <a:buChar char=" "/>
        <a:defRPr sz="2800">
          <a:solidFill>
            <a:srgbClr val="003B70"/>
          </a:solidFill>
          <a:latin typeface="+mn-lt"/>
          <a:ea typeface="ＭＳ Ｐゴシック" charset="0"/>
          <a:cs typeface="ＭＳ Ｐゴシック" charset="0"/>
        </a:defRPr>
      </a:lvl1pPr>
      <a:lvl2pPr marL="114300" indent="227013" algn="l" rtl="0" eaLnBrk="1" fontAlgn="base" hangingPunct="1">
        <a:lnSpc>
          <a:spcPts val="3200"/>
        </a:lnSpc>
        <a:spcBef>
          <a:spcPct val="0"/>
        </a:spcBef>
        <a:spcAft>
          <a:spcPts val="600"/>
        </a:spcAft>
        <a:buClr>
          <a:srgbClr val="173063"/>
        </a:buClr>
        <a:buFont typeface="Arial" charset="0"/>
        <a:buChar char="•"/>
        <a:defRPr sz="2800">
          <a:solidFill>
            <a:srgbClr val="003B70"/>
          </a:solidFill>
          <a:latin typeface="+mj-lt"/>
          <a:ea typeface="ＭＳ Ｐゴシック" charset="0"/>
        </a:defRPr>
      </a:lvl2pPr>
      <a:lvl3pPr marL="346075" indent="228600" algn="l" rtl="0" eaLnBrk="1" fontAlgn="base" hangingPunct="1">
        <a:lnSpc>
          <a:spcPts val="3200"/>
        </a:lnSpc>
        <a:spcBef>
          <a:spcPct val="0"/>
        </a:spcBef>
        <a:spcAft>
          <a:spcPts val="600"/>
        </a:spcAft>
        <a:buFont typeface="Lucida Grande" charset="0"/>
        <a:buChar char="-"/>
        <a:defRPr sz="2800">
          <a:solidFill>
            <a:srgbClr val="003B70"/>
          </a:solidFill>
          <a:latin typeface="+mj-lt"/>
          <a:ea typeface="ＭＳ Ｐゴシック" charset="0"/>
        </a:defRPr>
      </a:lvl3pPr>
      <a:lvl4pPr marL="803275" indent="-228600" algn="l" rtl="0" eaLnBrk="1" fontAlgn="base" hangingPunct="1">
        <a:lnSpc>
          <a:spcPts val="3200"/>
        </a:lnSpc>
        <a:spcBef>
          <a:spcPct val="0"/>
        </a:spcBef>
        <a:spcAft>
          <a:spcPts val="600"/>
        </a:spcAft>
        <a:buFont typeface="Lucida Grande" charset="0"/>
        <a:buChar char="-"/>
        <a:defRPr sz="2800">
          <a:solidFill>
            <a:srgbClr val="003B70"/>
          </a:solidFill>
          <a:latin typeface="+mj-lt"/>
          <a:ea typeface="ＭＳ Ｐゴシック" charset="0"/>
        </a:defRPr>
      </a:lvl4pPr>
      <a:lvl5pPr marL="1031875" indent="-228600" algn="l" rtl="0" eaLnBrk="1" fontAlgn="base" hangingPunct="1">
        <a:lnSpc>
          <a:spcPts val="3200"/>
        </a:lnSpc>
        <a:spcBef>
          <a:spcPct val="0"/>
        </a:spcBef>
        <a:spcAft>
          <a:spcPts val="600"/>
        </a:spcAft>
        <a:buFont typeface="Lucida Grande" charset="0"/>
        <a:buChar char="-"/>
        <a:defRPr sz="2800">
          <a:solidFill>
            <a:srgbClr val="003B70"/>
          </a:solidFill>
          <a:latin typeface="+mj-lt"/>
          <a:ea typeface="ＭＳ Ｐゴシック" charset="0"/>
        </a:defRPr>
      </a:lvl5pPr>
      <a:lvl6pPr marL="1600200" indent="174625" algn="l" rtl="0" eaLnBrk="1" fontAlgn="base" hangingPunct="1">
        <a:spcBef>
          <a:spcPct val="20000"/>
        </a:spcBef>
        <a:spcAft>
          <a:spcPct val="0"/>
        </a:spcAft>
        <a:defRPr sz="2200">
          <a:solidFill>
            <a:schemeClr val="tx1"/>
          </a:solidFill>
          <a:latin typeface="+mj-lt"/>
          <a:ea typeface="+mn-ea"/>
        </a:defRPr>
      </a:lvl6pPr>
      <a:lvl7pPr marL="2057400" indent="174625" algn="l" rtl="0" eaLnBrk="1" fontAlgn="base" hangingPunct="1">
        <a:spcBef>
          <a:spcPct val="20000"/>
        </a:spcBef>
        <a:spcAft>
          <a:spcPct val="0"/>
        </a:spcAft>
        <a:defRPr sz="2200">
          <a:solidFill>
            <a:schemeClr val="tx1"/>
          </a:solidFill>
          <a:latin typeface="+mj-lt"/>
          <a:ea typeface="+mn-ea"/>
        </a:defRPr>
      </a:lvl7pPr>
      <a:lvl8pPr marL="2514600" indent="174625" algn="l" rtl="0" eaLnBrk="1" fontAlgn="base" hangingPunct="1">
        <a:spcBef>
          <a:spcPct val="20000"/>
        </a:spcBef>
        <a:spcAft>
          <a:spcPct val="0"/>
        </a:spcAft>
        <a:defRPr sz="2200">
          <a:solidFill>
            <a:schemeClr val="tx1"/>
          </a:solidFill>
          <a:latin typeface="+mj-lt"/>
          <a:ea typeface="+mn-ea"/>
        </a:defRPr>
      </a:lvl8pPr>
      <a:lvl9pPr marL="2971800" indent="174625" algn="l" rtl="0" eaLnBrk="1" fontAlgn="base" hangingPunct="1">
        <a:spcBef>
          <a:spcPct val="20000"/>
        </a:spcBef>
        <a:spcAft>
          <a:spcPct val="0"/>
        </a:spcAft>
        <a:defRPr sz="22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lg-ulb/creditcardfrau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itle 1"/>
          <p:cNvSpPr>
            <a:spLocks noGrp="1"/>
          </p:cNvSpPr>
          <p:nvPr>
            <p:ph type="title"/>
          </p:nvPr>
        </p:nvSpPr>
        <p:spPr>
          <a:xfrm>
            <a:off x="191344" y="476672"/>
            <a:ext cx="11737304" cy="5616624"/>
          </a:xfrm>
        </p:spPr>
        <p:txBody>
          <a:bodyPr/>
          <a:lstStyle/>
          <a:p>
            <a:b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</a:br>
            <a:b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AAI-590 </a:t>
            </a:r>
            <a:r>
              <a:rPr lang="en-IN" kern="100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Capstone Project </a:t>
            </a: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- Group 2</a:t>
            </a:r>
            <a:b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b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en-US" b="0" dirty="0"/>
              <a:t> </a:t>
            </a:r>
            <a:r>
              <a:rPr lang="en-US" sz="2800" dirty="0"/>
              <a:t>Credit Card Fraud Detection Using Machine Learning Techniques </a:t>
            </a:r>
            <a:br>
              <a:rPr lang="en-IN" sz="2800" kern="100" dirty="0"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br>
              <a:rPr lang="en-IN" sz="2800" kern="100" dirty="0"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Masters Program in AAI, </a:t>
            </a:r>
            <a:r>
              <a:rPr lang="en-IN" sz="2800" kern="100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University of San Diego</a:t>
            </a:r>
            <a:b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en-IN" sz="2000" kern="100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Team Members - Angshuman Roy , Harish Acharya , Sandeep Kumar </a:t>
            </a:r>
            <a:r>
              <a:rPr lang="en-IN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Jakkaraju</a:t>
            </a:r>
            <a:br>
              <a:rPr lang="en-IN" sz="2000" kern="100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br>
              <a:rPr lang="en-IN" b="0" dirty="0"/>
            </a:br>
            <a:r>
              <a:rPr lang="en-IN" sz="2800" kern="100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Zahid Wani  (Instructor)</a:t>
            </a:r>
            <a:br>
              <a:rPr lang="en-IN" sz="2800" kern="100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endParaRPr lang="en-US" altLang="en-US" sz="2800" kern="1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E919-8B19-A762-B549-CCFC02BE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6632"/>
            <a:ext cx="10363200" cy="1143000"/>
          </a:xfrm>
        </p:spPr>
        <p:txBody>
          <a:bodyPr/>
          <a:lstStyle/>
          <a:p>
            <a:r>
              <a:rPr lang="en-IN" dirty="0"/>
              <a:t>Agenda /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8F3DB-C4BC-722B-B994-D944CE6C35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392" y="1124744"/>
            <a:ext cx="10945216" cy="4824536"/>
          </a:xfrm>
        </p:spPr>
        <p:txBody>
          <a:bodyPr/>
          <a:lstStyle/>
          <a:p>
            <a:pPr>
              <a:buSzPct val="100000"/>
              <a:buFont typeface="Wingdings" panose="05000000000000000000" pitchFamily="2" charset="2"/>
              <a:buChar char="v"/>
            </a:pPr>
            <a:r>
              <a:rPr lang="en-IN" sz="2000" dirty="0"/>
              <a:t>  Project motivation</a:t>
            </a:r>
          </a:p>
          <a:p>
            <a:pPr>
              <a:buSzPct val="100000"/>
              <a:buFont typeface="Wingdings" panose="05000000000000000000" pitchFamily="2" charset="2"/>
              <a:buChar char="v"/>
            </a:pPr>
            <a:r>
              <a:rPr lang="en-IN" sz="2000" dirty="0"/>
              <a:t>  Dataset summary</a:t>
            </a:r>
          </a:p>
          <a:p>
            <a:pPr>
              <a:buSzPct val="100000"/>
              <a:buFont typeface="Wingdings" panose="05000000000000000000" pitchFamily="2" charset="2"/>
              <a:buChar char="v"/>
            </a:pPr>
            <a:r>
              <a:rPr lang="en-IN" sz="2000" dirty="0"/>
              <a:t>  Exploratory Data Analysis (EDA)</a:t>
            </a:r>
          </a:p>
          <a:p>
            <a:pPr>
              <a:buSzPct val="100000"/>
              <a:buFont typeface="Wingdings" panose="05000000000000000000" pitchFamily="2" charset="2"/>
              <a:buChar char="v"/>
            </a:pPr>
            <a:r>
              <a:rPr lang="en-IN" sz="2000" dirty="0"/>
              <a:t>  Machine learning approaches</a:t>
            </a:r>
          </a:p>
          <a:p>
            <a:pPr>
              <a:buSzPct val="100000"/>
              <a:buFont typeface="Wingdings" panose="05000000000000000000" pitchFamily="2" charset="2"/>
              <a:buChar char="v"/>
            </a:pPr>
            <a:r>
              <a:rPr lang="en-IN" sz="2000" dirty="0"/>
              <a:t>  Experimental setup</a:t>
            </a:r>
          </a:p>
          <a:p>
            <a:pPr>
              <a:buSzPct val="100000"/>
              <a:buFont typeface="Wingdings" panose="05000000000000000000" pitchFamily="2" charset="2"/>
              <a:buChar char="v"/>
            </a:pPr>
            <a:r>
              <a:rPr lang="en-IN" sz="2000" dirty="0"/>
              <a:t>  Model performance comparison</a:t>
            </a:r>
          </a:p>
          <a:p>
            <a:pPr>
              <a:buSzPct val="100000"/>
              <a:buFont typeface="Wingdings" panose="05000000000000000000" pitchFamily="2" charset="2"/>
              <a:buChar char="v"/>
            </a:pPr>
            <a:r>
              <a:rPr lang="en-IN" sz="2000" dirty="0"/>
              <a:t>  ROC, PR curves &amp; confusion matrix</a:t>
            </a:r>
          </a:p>
          <a:p>
            <a:pPr>
              <a:buSzPct val="100000"/>
              <a:buFont typeface="Wingdings" panose="05000000000000000000" pitchFamily="2" charset="2"/>
              <a:buChar char="v"/>
            </a:pPr>
            <a:r>
              <a:rPr lang="en-IN" sz="2000" dirty="0"/>
              <a:t>  Hypothesis evaluation</a:t>
            </a:r>
          </a:p>
          <a:p>
            <a:pPr>
              <a:buSzPct val="100000"/>
              <a:buFont typeface="Wingdings" panose="05000000000000000000" pitchFamily="2" charset="2"/>
              <a:buChar char="v"/>
            </a:pPr>
            <a:r>
              <a:rPr lang="en-IN" sz="2000" dirty="0"/>
              <a:t>  Limitations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2826901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11B2-3321-6FDC-1FF1-98DEDF2EE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1119-B7C5-A191-4C8C-62AFDFEC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6632"/>
            <a:ext cx="10363200" cy="1143000"/>
          </a:xfrm>
        </p:spPr>
        <p:txBody>
          <a:bodyPr/>
          <a:lstStyle/>
          <a:p>
            <a:pPr>
              <a:buSzPct val="100000"/>
            </a:pPr>
            <a:r>
              <a:rPr lang="en-IN" dirty="0"/>
              <a:t>Project motivation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7A3755-9085-3A30-F765-3FEC61CAF6BB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224620" y="1074508"/>
            <a:ext cx="1156001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Credit card fraud causes billions of dollars in annual global financial losses.</a:t>
            </a:r>
            <a:endParaRPr lang="en-US" altLang="en-US" sz="2000" dirty="0">
              <a:latin typeface="+mj-lt"/>
            </a:endParaRP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Fraudulent transactions erode customer trust and damage brand reputation.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Traditional rule-based fraud systems struggle to detect new or evolving fraud patterns.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Payment ecosystems are experiencing increased transaction volume and complexity.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Fraudsters adapt quickly, requiring dynamic and intelligent detection methods.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Extremely imbalanced data (&lt;0.2% fraud) makes accurate detection highly challenging.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High false positives result in customer friction and operational overhead.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High false negatives lead directly to financial loss and regulatory exposure.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Machine learning models can learn complex behavioral patterns beyond rule engines.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Ensemble models and deep learning offer state-of-the-art performance for tabular fraud data.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Automated fraud detection reduces manual review burden for fraud analysts.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Real-time ML approaches improve decision speed and reduce blocked legitimate payments.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Identifying the best model enables scalable deployment across financial systems.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+mj-lt"/>
              </a:rPr>
              <a:t>Goal: Determine which ML methods yield the best precision–recall balance for real-world fraud detection.</a:t>
            </a:r>
          </a:p>
        </p:txBody>
      </p:sp>
    </p:spTree>
    <p:extLst>
      <p:ext uri="{BB962C8B-B14F-4D97-AF65-F5344CB8AC3E}">
        <p14:creationId xmlns:p14="http://schemas.microsoft.com/office/powerpoint/2010/main" val="2861269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A9D78-3159-E8BD-3FFE-3E5D2780A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C500F-6963-0FC4-2A86-7F550B42E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6632"/>
            <a:ext cx="10363200" cy="1143000"/>
          </a:xfrm>
        </p:spPr>
        <p:txBody>
          <a:bodyPr/>
          <a:lstStyle/>
          <a:p>
            <a:pPr>
              <a:buSzPct val="100000"/>
            </a:pPr>
            <a:r>
              <a:rPr lang="en-IN" dirty="0"/>
              <a:t>Dataset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51EC31-8374-6DB5-DF71-E979242F2F41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204640" y="1151453"/>
            <a:ext cx="11782720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Dataset Source : </a:t>
            </a:r>
            <a:r>
              <a:rPr lang="en-US" sz="2000" dirty="0"/>
              <a:t>The dataset used in this project is the </a:t>
            </a:r>
            <a:r>
              <a:rPr lang="en-US" sz="2000" b="1" dirty="0"/>
              <a:t>Credit Card Fraud Detection Dataset</a:t>
            </a:r>
            <a:r>
              <a:rPr lang="en-US" sz="2000" dirty="0"/>
              <a:t> hosted on Kaggle.  Kaggle URL: </a:t>
            </a:r>
            <a:r>
              <a:rPr lang="en-US" sz="2000" dirty="0">
                <a:solidFill>
                  <a:srgbClr val="00B05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https://www.kaggle.com/datasets/mlg-ulb/creditcardfraud</a:t>
            </a:r>
            <a:endParaRPr lang="en-US" sz="2000" dirty="0">
              <a:solidFill>
                <a:srgbClr val="00B050"/>
              </a:solidFill>
            </a:endParaRPr>
          </a:p>
          <a:p>
            <a:r>
              <a:rPr lang="en-US" sz="2000" b="1" dirty="0"/>
              <a:t>Dataset Description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dataset contains anonymized credit card transactions made by EU cardholders in Sep 2013.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There are 284,807 total transactions, of which only 492 are fraudulent.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Fraud cases represent 0.172% of all transactions, creating an extreme class imbalance that makes this problem especially challenging.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dataset includes 30 input features plus one target label:</a:t>
            </a:r>
          </a:p>
          <a:p>
            <a:pPr marL="1055687" lvl="3" indent="-342900" eaLnBrk="0" hangingPunct="0">
              <a:lnSpc>
                <a:spcPct val="100000"/>
              </a:lnSpc>
              <a:spcAft>
                <a:spcPct val="0"/>
              </a:spcAft>
            </a:pPr>
            <a:r>
              <a:rPr lang="en-US" sz="2000" dirty="0"/>
              <a:t>PCA-Transformed Features (V1–V28)</a:t>
            </a:r>
          </a:p>
          <a:p>
            <a:pPr marL="1055687" lvl="3" indent="-342900" eaLnBrk="0" hangingPunct="0">
              <a:lnSpc>
                <a:spcPct val="100000"/>
              </a:lnSpc>
              <a:spcAft>
                <a:spcPct val="0"/>
              </a:spcAft>
            </a:pPr>
            <a:r>
              <a:rPr lang="en-US" sz="2000" dirty="0"/>
              <a:t>Due to confidentiality concerns, most features are transformed using Principal Component Analysis. These are labeled V1 through V28.</a:t>
            </a:r>
          </a:p>
          <a:p>
            <a:pPr marL="1055687" lvl="3" indent="-342900" eaLnBrk="0" hangingPunct="0">
              <a:lnSpc>
                <a:spcPct val="100000"/>
              </a:lnSpc>
              <a:spcAft>
                <a:spcPct val="0"/>
              </a:spcAft>
            </a:pPr>
            <a:r>
              <a:rPr lang="en-US" sz="2000" dirty="0"/>
              <a:t>PCA ensures anonymity but reduces interpretability.</a:t>
            </a:r>
          </a:p>
          <a:p>
            <a:pPr marL="1055687" lvl="3" indent="-342900" eaLnBrk="0" hangingPunct="0">
              <a:lnSpc>
                <a:spcPct val="100000"/>
              </a:lnSpc>
              <a:spcAft>
                <a:spcPct val="0"/>
              </a:spcAft>
            </a:pPr>
            <a:r>
              <a:rPr lang="en-US" sz="2000" dirty="0"/>
              <a:t>PCA lowers multicollinearity, making the data suitable for linear and nonlinear ML models.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23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B343F-CE97-9202-B016-1A8348D14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620F3-1AB1-C350-8053-FAE16D69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6632"/>
            <a:ext cx="10363200" cy="1143000"/>
          </a:xfrm>
        </p:spPr>
        <p:txBody>
          <a:bodyPr/>
          <a:lstStyle/>
          <a:p>
            <a:pPr>
              <a:buSzPct val="100000"/>
            </a:pPr>
            <a:r>
              <a:rPr lang="en-IN" dirty="0"/>
              <a:t>Dataset summary – contd.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BCD144-A542-8A60-AFEA-CE87ADCB73D8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07368" y="1052736"/>
            <a:ext cx="11297017" cy="3452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Original Features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Time: Seconds elapsed between each transaction and the first transaction in the dataset.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Amount: Transaction amount (useful for cost-sensitive analysis).</a:t>
            </a:r>
          </a:p>
          <a:p>
            <a:r>
              <a:rPr lang="en-US" sz="2000" b="1" dirty="0"/>
              <a:t>Target Variable</a:t>
            </a:r>
          </a:p>
          <a:p>
            <a:pPr lvl="3" indent="0">
              <a:buNone/>
            </a:pPr>
            <a:r>
              <a:rPr lang="en-US" sz="2000" dirty="0"/>
              <a:t>Class: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2000" dirty="0"/>
              <a:t>0 → Legitimate transaction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2000" dirty="0"/>
              <a:t>1 → Fraudulent transaction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373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EB52B-A4A0-D20B-B8EF-716086B20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C0267-EEF8-CB8B-6E96-05FB13C5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6632"/>
            <a:ext cx="10363200" cy="1143000"/>
          </a:xfrm>
        </p:spPr>
        <p:txBody>
          <a:bodyPr/>
          <a:lstStyle/>
          <a:p>
            <a:pPr>
              <a:buSzPct val="100000"/>
            </a:pPr>
            <a:r>
              <a:rPr lang="en-IN" dirty="0"/>
              <a:t>Exploratory Data Analysis (EDA)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F61989-286D-CD2A-5716-44C2B78D6200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264674" y="920621"/>
            <a:ext cx="1151995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Dataset contains 284,807 transactions with only 0.172% fraud cases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PCA-transformed variables (V1–V28) reduce interpretability but lower correlation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Fraud transactions show distinct distributions in V17, V14, V12, V10, and V16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Transaction Amount is heavily right-skewed → scaling improves model stability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No strong seasonal pattern in Time feature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Correlation heatmap shows near-zero multicollinearity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Fraud class separation visible in feature density plots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Confirms suitability of boosted trees and DNN for pattern extraction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Fraudulent transactions tend to have lower median transaction amounts compared to legitimate ones.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Several PCA components (e.g., V4, V11, V18) show subtle but meaningful distribution shifts for fraud cases.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Fraud cases appear more scattered across the PCA-transformed feature space rather than forming tight clusters.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The Time feature does not strongly differentiate fraud vs. non-fraud but shows periodic peaks in activity volume.</a:t>
            </a:r>
          </a:p>
        </p:txBody>
      </p:sp>
    </p:spTree>
    <p:extLst>
      <p:ext uri="{BB962C8B-B14F-4D97-AF65-F5344CB8AC3E}">
        <p14:creationId xmlns:p14="http://schemas.microsoft.com/office/powerpoint/2010/main" val="3854049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7A3-6296-79F8-EAE4-DAB3286F2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14CB9-4605-3B06-74A0-1A13E5700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6632"/>
            <a:ext cx="10363200" cy="1143000"/>
          </a:xfrm>
        </p:spPr>
        <p:txBody>
          <a:bodyPr/>
          <a:lstStyle/>
          <a:p>
            <a:pPr>
              <a:buSzPct val="100000"/>
            </a:pPr>
            <a:r>
              <a:rPr lang="en-IN" dirty="0"/>
              <a:t>Exploratory Data Analysis (EDA) – contd.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905698-DCFF-22AA-ADB5-86F9618E8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648" y="843359"/>
            <a:ext cx="6068818" cy="2977156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B2D7FE58-A706-65FC-6BB6-77EA1024BD23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26402" y="3921760"/>
            <a:ext cx="1187425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hangingPunct="0">
              <a:lnSpc>
                <a:spcPct val="100000"/>
              </a:lnSpc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Above Figure shows the top 10 features most correlated with the fraud label.</a:t>
            </a:r>
          </a:p>
          <a:p>
            <a:pPr lvl="1" eaLnBrk="0" hangingPunct="0">
              <a:lnSpc>
                <a:spcPct val="100000"/>
              </a:lnSpc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PCA components V17, V14, V12, V10 exhibit the strongest correlations with fraudulent transactions.</a:t>
            </a:r>
          </a:p>
          <a:p>
            <a:pPr lvl="1" eaLnBrk="0" hangingPunct="0">
              <a:lnSpc>
                <a:spcPct val="100000"/>
              </a:lnSpc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These features capture hidden behavioral or transactional patterns associated with fraud.</a:t>
            </a:r>
          </a:p>
          <a:p>
            <a:pPr lvl="1" eaLnBrk="0" hangingPunct="0">
              <a:lnSpc>
                <a:spcPct val="100000"/>
              </a:lnSpc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High-magnitude PCA components indicate that certain latent dimensions are especially informative for anomaly detection.</a:t>
            </a:r>
          </a:p>
          <a:p>
            <a:pPr lvl="1" eaLnBrk="0" hangingPunct="0">
              <a:lnSpc>
                <a:spcPct val="100000"/>
              </a:lnSpc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The correlation ranking helps identify which features contribute most to fraud prediction.</a:t>
            </a:r>
          </a:p>
        </p:txBody>
      </p:sp>
    </p:spTree>
    <p:extLst>
      <p:ext uri="{BB962C8B-B14F-4D97-AF65-F5344CB8AC3E}">
        <p14:creationId xmlns:p14="http://schemas.microsoft.com/office/powerpoint/2010/main" val="2235126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C0BDE-A416-25DC-F739-A2FF7ABD2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5BAC-16BE-95FB-AEE7-E51B1030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6632"/>
            <a:ext cx="10363200" cy="1143000"/>
          </a:xfrm>
        </p:spPr>
        <p:txBody>
          <a:bodyPr/>
          <a:lstStyle/>
          <a:p>
            <a:pPr>
              <a:buSzPct val="100000"/>
            </a:pPr>
            <a:r>
              <a:rPr lang="en-IN" dirty="0"/>
              <a:t>Exploratory Data Analysis (EDA) – contd.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308312D-3116-0232-300A-9DD966479B87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371364" y="4257600"/>
            <a:ext cx="1144927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hangingPunct="0">
              <a:lnSpc>
                <a:spcPct val="100000"/>
              </a:lnSpc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/>
              <a:t>Above Figure shows that the top fraud-associated PCA components which have minimal pairwise correlation, confirming PCA’s orthogonality.</a:t>
            </a:r>
          </a:p>
          <a:p>
            <a:pPr lvl="1" eaLnBrk="0" hangingPunct="0">
              <a:lnSpc>
                <a:spcPct val="100000"/>
              </a:lnSpc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/>
              <a:t>Low intercorrelation indicates that each feature contributes unique information, helping models learn fraud patterns more effectively.</a:t>
            </a:r>
            <a:endParaRPr lang="en-US" altLang="en-US" sz="2000" dirty="0">
              <a:latin typeface="+mj-lt"/>
            </a:endParaRPr>
          </a:p>
          <a:p>
            <a:pPr lvl="1" eaLnBrk="0" hangingPunct="0">
              <a:lnSpc>
                <a:spcPct val="100000"/>
              </a:lnSpc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The correlation ranking helps identify which features contribute most to fraud prediction.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B8F455-384A-8A45-3D79-CA5DDFC43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672" y="916287"/>
            <a:ext cx="4266572" cy="337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308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8F134-C93E-046F-6137-6C453856F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71685-4EDF-3BD8-5A67-7B804B556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6632"/>
            <a:ext cx="10363200" cy="1143000"/>
          </a:xfrm>
        </p:spPr>
        <p:txBody>
          <a:bodyPr/>
          <a:lstStyle/>
          <a:p>
            <a:pPr>
              <a:buSzPct val="100000"/>
            </a:pPr>
            <a:r>
              <a:rPr lang="en-IN" b="1" dirty="0"/>
              <a:t>Machine Learning Approaches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F45DB0-880D-FCD3-B097-A0D29E9CDCB5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07368" y="1259632"/>
            <a:ext cx="1108873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Classical Models: Logistic Regression, Linear SVM, Naive Bayes, k-NN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Ensemble Models: Random Forest, </a:t>
            </a:r>
            <a:r>
              <a:rPr lang="en-US" altLang="en-US" sz="2000" dirty="0" err="1"/>
              <a:t>XGBoost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LightGBM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CatBoost</a:t>
            </a: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Deep Learning: Feedforward DNN with </a:t>
            </a:r>
            <a:r>
              <a:rPr lang="en-US" altLang="en-US" sz="2000" dirty="0" err="1"/>
              <a:t>ReLU</a:t>
            </a:r>
            <a:r>
              <a:rPr lang="en-US" altLang="en-US" sz="2000" dirty="0"/>
              <a:t> + Sigmoid activation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Anomaly Detection: Isolation Forest, Local Outlier Factor (LOF), Autoencoder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Methods chosen to compare linear, nonlinear, deep, and unsupervised paradigms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Goal: Identify strongest model under extreme class imbalance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Evaluate trade-offs between recall (fraud detection) and precision (false alarms)</a:t>
            </a:r>
          </a:p>
        </p:txBody>
      </p:sp>
    </p:spTree>
    <p:extLst>
      <p:ext uri="{BB962C8B-B14F-4D97-AF65-F5344CB8AC3E}">
        <p14:creationId xmlns:p14="http://schemas.microsoft.com/office/powerpoint/2010/main" val="364315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0F12E-0CAA-24A4-DAF1-E32211EDE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B6C6F-1F6E-6C2D-76D0-E4FD37E84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6632"/>
            <a:ext cx="10363200" cy="1143000"/>
          </a:xfrm>
        </p:spPr>
        <p:txBody>
          <a:bodyPr/>
          <a:lstStyle/>
          <a:p>
            <a:pPr>
              <a:buSzPct val="100000"/>
            </a:pPr>
            <a:r>
              <a:rPr lang="en-IN" dirty="0"/>
              <a:t>Experimental Setup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0A848D-1452-B913-D7EA-1FDED3044938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224620" y="1074509"/>
            <a:ext cx="1116074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Dataset split: 70% train, 15% validation, 15% test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err="1"/>
              <a:t>StandardScaler</a:t>
            </a:r>
            <a:r>
              <a:rPr lang="en-US" altLang="en-US" sz="2000" dirty="0"/>
              <a:t> applied to Time and Amount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SMOTE oversampling used for classical &amp; tree models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Class weights applied for DNN training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DNN architecture: 32 → 16 → 8 → 1 with early stopping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Boosted tree models tuned with learning rate, depth, estimators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Evaluation metrics: Accuracy, Precision, Recall, F1, ROC–AUC, PR–AUC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b="1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Goal: maximize recall while keeping false positives low</a:t>
            </a:r>
          </a:p>
        </p:txBody>
      </p:sp>
    </p:spTree>
    <p:extLst>
      <p:ext uri="{BB962C8B-B14F-4D97-AF65-F5344CB8AC3E}">
        <p14:creationId xmlns:p14="http://schemas.microsoft.com/office/powerpoint/2010/main" val="44520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DC067-A994-FA58-7F85-ACDBAED76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8A957-5C7A-107B-4F65-8E27D7E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6632"/>
            <a:ext cx="10363200" cy="1143000"/>
          </a:xfrm>
        </p:spPr>
        <p:txBody>
          <a:bodyPr/>
          <a:lstStyle/>
          <a:p>
            <a:pPr>
              <a:buSzPct val="100000"/>
            </a:pPr>
            <a:r>
              <a:rPr lang="en-IN" dirty="0"/>
              <a:t>Model Performance Comparison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FD384A-7090-C5CA-2A97-063EB4AC6BA1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224620" y="1074509"/>
            <a:ext cx="1116074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/>
              <a:t>Top Performer: </a:t>
            </a:r>
            <a:r>
              <a:rPr lang="en-US" altLang="en-US" sz="2000" b="1" dirty="0" err="1"/>
              <a:t>LightGBM</a:t>
            </a:r>
            <a:r>
              <a:rPr lang="en-US" altLang="en-US" sz="2000" b="1" dirty="0"/>
              <a:t> → Best F1-score (0.8382), high precision (0.9194)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000" b="1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/>
              <a:t>Highest ROC–AUC: </a:t>
            </a:r>
            <a:r>
              <a:rPr lang="en-US" altLang="en-US" sz="2000" b="1" dirty="0" err="1"/>
              <a:t>XGBoost</a:t>
            </a:r>
            <a:r>
              <a:rPr lang="en-US" altLang="en-US" sz="2000" b="1" dirty="0"/>
              <a:t> (0.9797), consistently strong across metrics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000" b="1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/>
              <a:t>DNN: Competitive nonlinear model with stable training behavior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/>
              <a:t>Random Forest: High precision but moderate recall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/>
              <a:t>k-NN: Extremely high accuracy but weak fraud recall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/>
              <a:t>Logistic Regression &amp; SVM: Limited by linear decision boundaries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/>
              <a:t>Naive Bayes: Lowest precision and recall among supervised models</a:t>
            </a:r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598487" lvl="2" indent="-342900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/>
              <a:t>Unsupervised models performed poorly: high false positives or low recall</a:t>
            </a:r>
          </a:p>
        </p:txBody>
      </p:sp>
    </p:spTree>
    <p:extLst>
      <p:ext uri="{BB962C8B-B14F-4D97-AF65-F5344CB8AC3E}">
        <p14:creationId xmlns:p14="http://schemas.microsoft.com/office/powerpoint/2010/main" val="2389585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30A56-009F-7AC9-C7CB-5B2043FD7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5372C-1445-4B34-20C8-EE41A5600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6632"/>
            <a:ext cx="10363200" cy="1143000"/>
          </a:xfrm>
        </p:spPr>
        <p:txBody>
          <a:bodyPr/>
          <a:lstStyle/>
          <a:p>
            <a:pPr>
              <a:buSzPct val="100000"/>
            </a:pPr>
            <a:r>
              <a:rPr lang="fr-FR" dirty="0"/>
              <a:t>ROC, PR </a:t>
            </a:r>
            <a:r>
              <a:rPr lang="fr-FR" dirty="0" err="1"/>
              <a:t>Curves</a:t>
            </a:r>
            <a:r>
              <a:rPr lang="fr-FR" dirty="0"/>
              <a:t> &amp; Confusion Matrix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DE900B-5C2C-E1E0-3C61-79F97DFFF864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515628" y="980728"/>
            <a:ext cx="11160744" cy="1843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/>
              <a:t>ROC Curve</a:t>
            </a:r>
          </a:p>
          <a:p>
            <a:pPr lvl="1"/>
            <a:r>
              <a:rPr lang="en-IN" sz="2000" dirty="0" err="1"/>
              <a:t>LightGBM</a:t>
            </a:r>
            <a:r>
              <a:rPr lang="en-IN" sz="2000" dirty="0"/>
              <a:t>, </a:t>
            </a:r>
            <a:r>
              <a:rPr lang="en-IN" sz="2000" dirty="0" err="1"/>
              <a:t>XGBoost</a:t>
            </a:r>
            <a:r>
              <a:rPr lang="en-IN" sz="2000" dirty="0"/>
              <a:t>, and DNN show near-perfect ROC curves ,ROC–AUC values &gt; 0.97 indicate strong separation power</a:t>
            </a:r>
          </a:p>
          <a:p>
            <a:pPr lvl="1"/>
            <a:r>
              <a:rPr lang="en-IN" sz="2000" dirty="0"/>
              <a:t>Logistic Regression trails behind nonlinear models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A4E29-6E72-38E9-43B8-624A441F2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632" y="2795398"/>
            <a:ext cx="5040560" cy="317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684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B82DB-2D5B-A707-234E-0AAA8C2F6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8EC18-E480-83D4-422D-12F3F696C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6632"/>
            <a:ext cx="10363200" cy="1143000"/>
          </a:xfrm>
        </p:spPr>
        <p:txBody>
          <a:bodyPr/>
          <a:lstStyle/>
          <a:p>
            <a:pPr>
              <a:buSzPct val="100000"/>
            </a:pPr>
            <a:r>
              <a:rPr lang="fr-FR" dirty="0"/>
              <a:t>ROC, PR </a:t>
            </a:r>
            <a:r>
              <a:rPr lang="fr-FR" dirty="0" err="1"/>
              <a:t>Curves</a:t>
            </a:r>
            <a:r>
              <a:rPr lang="fr-FR" dirty="0"/>
              <a:t> &amp; Confusion Matrix – </a:t>
            </a:r>
            <a:r>
              <a:rPr lang="fr-FR" dirty="0" err="1"/>
              <a:t>contd</a:t>
            </a:r>
            <a:r>
              <a:rPr lang="fr-FR" dirty="0"/>
              <a:t>.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06AE7C-F15D-87F3-482F-A47C4A043491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07368" y="1053495"/>
            <a:ext cx="11160744" cy="2349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/>
              <a:t>Precision–Recall Curve</a:t>
            </a:r>
          </a:p>
          <a:p>
            <a:pPr lvl="1"/>
            <a:r>
              <a:rPr lang="en-IN" sz="2000" dirty="0" err="1"/>
              <a:t>LightGBM</a:t>
            </a:r>
            <a:r>
              <a:rPr lang="en-IN" sz="2000" dirty="0"/>
              <a:t> maintains highest precision across recall thresholds</a:t>
            </a:r>
          </a:p>
          <a:p>
            <a:pPr lvl="1"/>
            <a:r>
              <a:rPr lang="en-IN" sz="2000" dirty="0"/>
              <a:t>PR curves highlight severe class imbalance more effectively</a:t>
            </a:r>
          </a:p>
          <a:p>
            <a:pPr lvl="1"/>
            <a:r>
              <a:rPr lang="en-IN" sz="2000" dirty="0"/>
              <a:t>DNN drops precision faster at high recall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B31D47-ED87-2951-A57F-CD97D72E0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104" y="2420888"/>
            <a:ext cx="4968552" cy="357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53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F6BE5-60BF-51B9-9115-CF267D30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A32C-3C64-81E9-A8FD-36B000FB5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6632"/>
            <a:ext cx="10363200" cy="1143000"/>
          </a:xfrm>
        </p:spPr>
        <p:txBody>
          <a:bodyPr/>
          <a:lstStyle/>
          <a:p>
            <a:pPr>
              <a:buSzPct val="100000"/>
            </a:pPr>
            <a:r>
              <a:rPr lang="fr-FR" dirty="0"/>
              <a:t>ROC, PR </a:t>
            </a:r>
            <a:r>
              <a:rPr lang="fr-FR" dirty="0" err="1"/>
              <a:t>Curves</a:t>
            </a:r>
            <a:r>
              <a:rPr lang="fr-FR" dirty="0"/>
              <a:t> &amp; Confusion Matrix – </a:t>
            </a:r>
            <a:r>
              <a:rPr lang="fr-FR" dirty="0" err="1"/>
              <a:t>contd</a:t>
            </a:r>
            <a:r>
              <a:rPr lang="fr-FR" dirty="0"/>
              <a:t>.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2CB955-4116-7F2E-8C3A-596B56846F0E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515628" y="919560"/>
            <a:ext cx="6516476" cy="3734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/>
              <a:t>Confusion Matrix (</a:t>
            </a:r>
            <a:r>
              <a:rPr lang="en-IN" sz="2000" b="1" dirty="0" err="1"/>
              <a:t>LightGBM</a:t>
            </a:r>
            <a:r>
              <a:rPr lang="en-IN" sz="2000" b="1" dirty="0"/>
              <a:t>)</a:t>
            </a:r>
          </a:p>
          <a:p>
            <a:pPr lvl="1"/>
            <a:r>
              <a:rPr lang="en-IN" sz="2000" dirty="0"/>
              <a:t>True Positives: 57</a:t>
            </a:r>
          </a:p>
          <a:p>
            <a:pPr lvl="1"/>
            <a:r>
              <a:rPr lang="en-IN" sz="2000" dirty="0"/>
              <a:t>False Negatives: 17</a:t>
            </a:r>
          </a:p>
          <a:p>
            <a:pPr lvl="1"/>
            <a:r>
              <a:rPr lang="en-IN" sz="2000" dirty="0"/>
              <a:t>True Negatives: 42,642</a:t>
            </a:r>
          </a:p>
          <a:p>
            <a:pPr lvl="1"/>
            <a:r>
              <a:rPr lang="en-IN" sz="2000" dirty="0"/>
              <a:t>False Positives: 5</a:t>
            </a:r>
          </a:p>
          <a:p>
            <a:pPr lvl="1"/>
            <a:r>
              <a:rPr lang="en-IN" sz="2000" dirty="0"/>
              <a:t>Extremely low false-positive rate → highly operationally viable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4F981-3A0B-94CE-46C1-32D27B6CB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40" y="1484784"/>
            <a:ext cx="5640858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59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71AE-6744-6645-3160-A0D534833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150" y="188640"/>
            <a:ext cx="10363200" cy="1143000"/>
          </a:xfrm>
        </p:spPr>
        <p:txBody>
          <a:bodyPr/>
          <a:lstStyle/>
          <a:p>
            <a:r>
              <a:rPr lang="en-IN" dirty="0"/>
              <a:t>Hypothesis Evaluation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3B5CD2-4D04-7C22-421C-084B56B5BB0E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79376" y="1052736"/>
            <a:ext cx="11572720" cy="3869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1" defTabSz="914400" latinLnBrk="0">
              <a:buSzTx/>
              <a:tabLst/>
            </a:pPr>
            <a:r>
              <a:rPr lang="en-US" altLang="en-US" sz="2000" dirty="0"/>
              <a:t>Hypothesis: Boosted tree models and DNN will outperform classical and anomaly-based methods</a:t>
            </a:r>
          </a:p>
          <a:p>
            <a:pPr marR="0" lvl="1" defTabSz="914400" latinLnBrk="0">
              <a:buSzTx/>
              <a:tabLst/>
            </a:pPr>
            <a:r>
              <a:rPr lang="en-US" altLang="en-US" sz="2000" dirty="0"/>
              <a:t>Supported by results:</a:t>
            </a:r>
          </a:p>
          <a:p>
            <a:pPr lvl="3"/>
            <a:r>
              <a:rPr lang="en-US" altLang="en-US" sz="2000" b="1" dirty="0" err="1"/>
              <a:t>LightGBM</a:t>
            </a:r>
            <a:r>
              <a:rPr lang="en-US" altLang="en-US" sz="2000" b="1" dirty="0"/>
              <a:t>: Best F1-score and precision</a:t>
            </a:r>
          </a:p>
          <a:p>
            <a:pPr lvl="3"/>
            <a:r>
              <a:rPr lang="en-US" altLang="en-US" sz="2000" b="1" dirty="0" err="1"/>
              <a:t>XGBoost</a:t>
            </a:r>
            <a:r>
              <a:rPr lang="en-US" altLang="en-US" sz="2000" b="1" dirty="0"/>
              <a:t>: Highest ROC–AUC</a:t>
            </a:r>
          </a:p>
          <a:p>
            <a:pPr lvl="3"/>
            <a:r>
              <a:rPr lang="en-US" altLang="en-US" sz="2000" b="1" dirty="0"/>
              <a:t>DNN: Strong nonlinear performance</a:t>
            </a:r>
          </a:p>
          <a:p>
            <a:pPr marR="0" lvl="1" defTabSz="914400" latinLnBrk="0">
              <a:buSzTx/>
              <a:tabLst/>
            </a:pPr>
            <a:r>
              <a:rPr lang="en-US" altLang="en-US" sz="2000" dirty="0"/>
              <a:t>Classical models underperform due to linear boundaries</a:t>
            </a:r>
          </a:p>
          <a:p>
            <a:pPr marR="0" lvl="1" defTabSz="914400" latinLnBrk="0">
              <a:buSzTx/>
              <a:tabLst/>
            </a:pPr>
            <a:r>
              <a:rPr lang="en-US" altLang="en-US" sz="2000" dirty="0"/>
              <a:t>Anomaly detection ineffective because fraud does not form a distinct PCA cluster</a:t>
            </a:r>
          </a:p>
          <a:p>
            <a:pPr marR="0" lvl="1" defTabSz="914400" latinLnBrk="0">
              <a:buSzTx/>
              <a:tabLst/>
            </a:pPr>
            <a:r>
              <a:rPr lang="en-US" altLang="en-US" sz="2000" dirty="0"/>
              <a:t>Conclusion: Boosted ensemble models + DNN provide best fraud detection capability</a:t>
            </a:r>
          </a:p>
        </p:txBody>
      </p:sp>
    </p:spTree>
    <p:extLst>
      <p:ext uri="{BB962C8B-B14F-4D97-AF65-F5344CB8AC3E}">
        <p14:creationId xmlns:p14="http://schemas.microsoft.com/office/powerpoint/2010/main" val="3366355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78B16-C751-34ED-652D-CF416D6AC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6E22-E60D-D66E-FC67-113DA0E62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-6302"/>
            <a:ext cx="10363200" cy="1143000"/>
          </a:xfrm>
        </p:spPr>
        <p:txBody>
          <a:bodyPr/>
          <a:lstStyle/>
          <a:p>
            <a:r>
              <a:rPr lang="en-IN" dirty="0"/>
              <a:t>Limitations and Future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122751-C1A8-45B3-10BA-90F06765F95F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335360" y="692696"/>
            <a:ext cx="11255972" cy="5331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>
                <a:latin typeface="+mj-lt"/>
              </a:rPr>
              <a:t>Limitations</a:t>
            </a:r>
          </a:p>
          <a:p>
            <a:pPr lvl="2"/>
            <a:r>
              <a:rPr lang="en-IN" sz="2000" dirty="0"/>
              <a:t>PCA transformation limits interpretability</a:t>
            </a:r>
          </a:p>
          <a:p>
            <a:pPr lvl="2"/>
            <a:r>
              <a:rPr lang="en-IN" sz="2000" dirty="0"/>
              <a:t>Class imbalance still produces false negatives</a:t>
            </a:r>
          </a:p>
          <a:p>
            <a:pPr lvl="2"/>
            <a:r>
              <a:rPr lang="en-IN" sz="2000" dirty="0"/>
              <a:t>Thresholds not optimized for operational cost</a:t>
            </a:r>
          </a:p>
          <a:p>
            <a:pPr lvl="2"/>
            <a:r>
              <a:rPr lang="en-IN" sz="2000" dirty="0"/>
              <a:t>DNN tuning limited by compute and time constraints</a:t>
            </a:r>
          </a:p>
          <a:p>
            <a:pPr lvl="2"/>
            <a:r>
              <a:rPr lang="en-IN" sz="2000" dirty="0"/>
              <a:t>Dataset is from 2013 → may not reflect modern fraud </a:t>
            </a:r>
            <a:r>
              <a:rPr lang="en-IN" sz="2000" dirty="0" err="1"/>
              <a:t>behavior</a:t>
            </a:r>
            <a:endParaRPr lang="en-IN" sz="2000" dirty="0"/>
          </a:p>
          <a:p>
            <a:r>
              <a:rPr lang="en-IN" sz="2000" b="1" dirty="0">
                <a:latin typeface="+mj-lt"/>
              </a:rPr>
              <a:t>Future Work</a:t>
            </a:r>
          </a:p>
          <a:p>
            <a:pPr lvl="2"/>
            <a:r>
              <a:rPr lang="en-IN" sz="2000" dirty="0">
                <a:latin typeface="+mj-lt"/>
              </a:rPr>
              <a:t>Cost-sensitive threshold tuning to minimize financial loss</a:t>
            </a:r>
          </a:p>
          <a:p>
            <a:pPr lvl="2"/>
            <a:r>
              <a:rPr lang="en-IN" sz="2000" dirty="0">
                <a:latin typeface="+mj-lt"/>
              </a:rPr>
              <a:t>Hyperparameter optimization using Bayesian or </a:t>
            </a:r>
            <a:r>
              <a:rPr lang="en-IN" sz="2000" dirty="0" err="1">
                <a:latin typeface="+mj-lt"/>
              </a:rPr>
              <a:t>Optuna</a:t>
            </a:r>
            <a:r>
              <a:rPr lang="en-IN" sz="2000" dirty="0">
                <a:latin typeface="+mj-lt"/>
              </a:rPr>
              <a:t> search</a:t>
            </a:r>
          </a:p>
          <a:p>
            <a:pPr lvl="2"/>
            <a:r>
              <a:rPr lang="en-IN" sz="2000" dirty="0">
                <a:latin typeface="+mj-lt"/>
              </a:rPr>
              <a:t>Real-time detection pipeline using streaming systems (Kafka, Flink)</a:t>
            </a:r>
          </a:p>
          <a:p>
            <a:pPr lvl="2"/>
            <a:r>
              <a:rPr lang="en-IN" sz="2000" dirty="0">
                <a:latin typeface="+mj-lt"/>
              </a:rPr>
              <a:t>Feature engineering with domain knowledge for improved interpretability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42186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B4C3D-A770-184D-0D40-94F84A165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37554-F6FB-1D8B-640C-330C98DE4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0"/>
            <a:ext cx="10363200" cy="1143000"/>
          </a:xfrm>
        </p:spPr>
        <p:txBody>
          <a:bodyPr/>
          <a:lstStyle/>
          <a:p>
            <a:r>
              <a:rPr lang="en-IN" dirty="0"/>
              <a:t>Limitations and Future Work – contd.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2A9802-31B6-2D1B-AB65-ACD6E2D5D0FC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331474" y="980728"/>
            <a:ext cx="10803020" cy="289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>
                <a:latin typeface="+mj-lt"/>
              </a:rPr>
              <a:t>Future Work</a:t>
            </a:r>
          </a:p>
          <a:p>
            <a:pPr lvl="2"/>
            <a:r>
              <a:rPr lang="en-IN" sz="2000" dirty="0">
                <a:latin typeface="+mj-lt"/>
              </a:rPr>
              <a:t>Model stacking (</a:t>
            </a:r>
            <a:r>
              <a:rPr lang="en-IN" sz="2000" dirty="0" err="1">
                <a:latin typeface="+mj-lt"/>
              </a:rPr>
              <a:t>LightGBM</a:t>
            </a:r>
            <a:r>
              <a:rPr lang="en-IN" sz="2000" dirty="0">
                <a:latin typeface="+mj-lt"/>
              </a:rPr>
              <a:t> + DNN) for improved recall</a:t>
            </a:r>
          </a:p>
          <a:p>
            <a:pPr lvl="2"/>
            <a:r>
              <a:rPr lang="en-IN" sz="2000" dirty="0">
                <a:latin typeface="+mj-lt"/>
              </a:rPr>
              <a:t>Incorporate time-series or sequence-based models (LSTM, Transformers)</a:t>
            </a:r>
          </a:p>
          <a:p>
            <a:pPr lvl="2"/>
            <a:r>
              <a:rPr lang="en-IN" sz="2000" dirty="0">
                <a:latin typeface="+mj-lt"/>
              </a:rPr>
              <a:t>Real-time detection pipeline using streaming systems (Kafka, Flink)</a:t>
            </a:r>
          </a:p>
          <a:p>
            <a:pPr lvl="2"/>
            <a:r>
              <a:rPr lang="en-IN" sz="2000" dirty="0">
                <a:latin typeface="+mj-lt"/>
              </a:rPr>
              <a:t>Feature engineering with domain knowledge for improved interpretability</a:t>
            </a:r>
          </a:p>
          <a:p>
            <a:pPr marR="0" lvl="1" indent="0" defTabSz="914400" latinLnBrk="0">
              <a:buSzTx/>
              <a:buNone/>
              <a:tabLst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76793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4842C-81AB-61CE-05F1-2B114F7DB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832" y="2348880"/>
            <a:ext cx="2592288" cy="11430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7621597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USD-PowerPoint-Template" id="{0D8B6819-499E-9341-B13D-B41B5A88AD2E}" vid="{D828E52F-980C-A946-9AE0-8A7A3D815F0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USD-PowerPoint-Template-Wide</Template>
  <TotalTime>5098</TotalTime>
  <Words>1333</Words>
  <Application>Microsoft Office PowerPoint</Application>
  <PresentationFormat>Widescreen</PresentationFormat>
  <Paragraphs>170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Lucida Grande</vt:lpstr>
      <vt:lpstr>Palatino</vt:lpstr>
      <vt:lpstr>Times New Roman</vt:lpstr>
      <vt:lpstr>Wingdings</vt:lpstr>
      <vt:lpstr>Default Theme</vt:lpstr>
      <vt:lpstr>  AAI-590 Capstone Project - Group 2   Credit Card Fraud Detection Using Machine Learning Techniques   Masters Program in AAI, University of San Diego Team Members - Angshuman Roy , Harish Acharya , Sandeep Kumar Jakkaraju  Zahid Wani  (Instructor) </vt:lpstr>
      <vt:lpstr>Agenda / Overview</vt:lpstr>
      <vt:lpstr>Project motivation</vt:lpstr>
      <vt:lpstr>Dataset summary</vt:lpstr>
      <vt:lpstr>Dataset summary – contd.</vt:lpstr>
      <vt:lpstr>Exploratory Data Analysis (EDA)</vt:lpstr>
      <vt:lpstr>Exploratory Data Analysis (EDA) – contd.</vt:lpstr>
      <vt:lpstr>Exploratory Data Analysis (EDA) – contd.</vt:lpstr>
      <vt:lpstr>Machine Learning Approaches</vt:lpstr>
      <vt:lpstr>Experimental Setup</vt:lpstr>
      <vt:lpstr>Model Performance Comparison</vt:lpstr>
      <vt:lpstr>ROC, PR Curves &amp; Confusion Matrix</vt:lpstr>
      <vt:lpstr>ROC, PR Curves &amp; Confusion Matrix – contd.</vt:lpstr>
      <vt:lpstr>ROC, PR Curves &amp; Confusion Matrix – contd.</vt:lpstr>
      <vt:lpstr>Hypothesis Evaluation</vt:lpstr>
      <vt:lpstr>Limitations and Future Work</vt:lpstr>
      <vt:lpstr>Limitations and Future Work – contd.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Module 1: Probability and Statistics for Artificial Intelligence   Presenter: Dr. Rakesh L. Das (Instructor - USD) Masters Program in AAI, USD.</dc:title>
  <dc:creator>Rakesh Das</dc:creator>
  <cp:lastModifiedBy>A R</cp:lastModifiedBy>
  <cp:revision>30</cp:revision>
  <cp:lastPrinted>2006-12-06T17:07:15Z</cp:lastPrinted>
  <dcterms:created xsi:type="dcterms:W3CDTF">2024-05-10T12:11:33Z</dcterms:created>
  <dcterms:modified xsi:type="dcterms:W3CDTF">2025-12-08T15:43:53Z</dcterms:modified>
</cp:coreProperties>
</file>